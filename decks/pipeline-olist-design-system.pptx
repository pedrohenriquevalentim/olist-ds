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FFFFFF"/>
                </a:solidFill>
                <a:latin typeface="Plus Jakarta Sans"/>
              </a:rPr>
              <a:t>Outubro |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0" y="3200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lus Jakarta Sans"/>
              </a:rPr>
              <a:t>olist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Plus Jakarta Sans"/>
              </a:rPr>
              <a:t>Como a Olist constrói interface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Como design e tecnologia trabalham juntos para construir telas mais rápido e com mais consistência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40233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3977639"/>
            <a:ext cx="4023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669280" y="1005840"/>
            <a:ext cx="3017520" cy="3017520"/>
          </a:xfrm>
          <a:prstGeom prst="ellipse">
            <a:avLst/>
          </a:prstGeom>
          <a:gradFill rotWithShape="1">
            <a:gsLst>
              <a:gs pos="0">
                <a:srgbClr val="8DD7D7"/>
              </a:gs>
              <a:gs pos="100000">
                <a:srgbClr val="E64E3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005840"/>
            <a:ext cx="301752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4EE4"/>
                </a:solidFill>
                <a:latin typeface="Plus Jakarta Sans"/>
              </a:rPr>
              <a:t>Capítulo 01 — De onde viemos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502920"/>
            <a:ext cx="164592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001647"/>
                </a:solidFill>
                <a:latin typeface="Plus Jakarta Sans"/>
              </a:rPr>
              <a:t>Slide 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1615"/>
            <a:ext cx="8046720" cy="0"/>
          </a:xfrm>
          <a:prstGeom prst="line">
            <a:avLst/>
          </a:prstGeom>
          <a:ln w="9525">
            <a:solidFill>
              <a:srgbClr val="001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37335"/>
            <a:ext cx="548640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4EE4"/>
                </a:solidFill>
                <a:latin typeface="Plus Jakarta Sans"/>
              </a:rPr>
              <a:t>Capítulo 02 — Por que construímos um processo próprio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537335"/>
            <a:ext cx="164592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001647"/>
                </a:solidFill>
                <a:latin typeface="Plus Jakarta Sans"/>
              </a:rPr>
              <a:t>Slide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526030"/>
            <a:ext cx="8046720" cy="0"/>
          </a:xfrm>
          <a:prstGeom prst="line">
            <a:avLst/>
          </a:prstGeom>
          <a:ln w="9525">
            <a:solidFill>
              <a:srgbClr val="001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571750"/>
            <a:ext cx="548640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4EE4"/>
                </a:solidFill>
                <a:latin typeface="Plus Jakarta Sans"/>
              </a:rPr>
              <a:t>Capítulo 03 — Como funciona, na prática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571750"/>
            <a:ext cx="164592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001647"/>
                </a:solidFill>
                <a:latin typeface="Plus Jakarta Sans"/>
              </a:rPr>
              <a:t>Slide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560445"/>
            <a:ext cx="8046720" cy="0"/>
          </a:xfrm>
          <a:prstGeom prst="line">
            <a:avLst/>
          </a:prstGeom>
          <a:ln w="9525">
            <a:solidFill>
              <a:srgbClr val="001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606165"/>
            <a:ext cx="548640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4EE4"/>
                </a:solidFill>
                <a:latin typeface="Plus Jakarta Sans"/>
              </a:rPr>
              <a:t>Capítulo 04 — O 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606165"/>
            <a:ext cx="1645920" cy="724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1">
                <a:solidFill>
                  <a:srgbClr val="001647"/>
                </a:solidFill>
                <a:latin typeface="Plus Jakarta Sans"/>
              </a:rPr>
              <a:t>Slide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A4EE4"/>
                </a:solidFill>
                <a:latin typeface="Plus Jakarta Sans"/>
              </a:rPr>
              <a:t>Capítulo 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62656" y="2743200"/>
            <a:ext cx="3218688" cy="0"/>
          </a:xfrm>
          <a:prstGeom prst="line">
            <a:avLst/>
          </a:prstGeom>
          <a:ln w="15875">
            <a:solidFill>
              <a:srgbClr val="0A4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gradFill rotWithShape="1">
            <a:gsLst>
              <a:gs pos="0">
                <a:srgbClr val="0A4EE4"/>
              </a:gs>
              <a:gs pos="100000">
                <a:srgbClr val="8DD7D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O que é um Design System, 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Antes de tudo, uma definição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É uma caixa de peças prontas — botões, campos, menus, cores — já testadas e aprovadas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Por trás de cada peça existem os 'tokens' — as regras de cor, espaçamento e tipografia que fazem tudo combinar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Em vez de desenhar e programar a mesma peça do zero em cada projeto, todo mundo usa as mesmas peças, do mesmo jeito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O resultado: telas parecidas entre si, mais rápidas de construir e mais fáceis de manter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Como era o fluxo antigo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Design e código nasciam em lugares diferentes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Uma tela era desenhada, virava uma imagem estática e era passada como referência para quem programava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Cada time recriava as mesmas peças do zero, cada um do seu próprio jeito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Quando o desenho mudava, o código não ficava sabendo — a diferença virava retrabalho depois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FFFFFF"/>
                </a:solidFill>
                <a:latin typeface="Plus Jakarta Sans"/>
              </a:rPr>
              <a:t>Capítulo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Plus Jakarta Sans"/>
              </a:rPr>
              <a:t>Capítulo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62656" y="2743200"/>
            <a:ext cx="321868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gradFill rotWithShape="1">
            <a:gsLst>
              <a:gs pos="0">
                <a:srgbClr val="779E3D"/>
              </a:gs>
              <a:gs pos="100000">
                <a:srgbClr val="8DD7D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O porquê, em três frases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O que buscávamos antes de pensar em ferramenta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Agilidade: sair de uma ideia para uma tela navegável em minutos, não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Consistência: toda tela nova nasce com as mesmas peças, cores e espaçamentos — nunca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Escala: dar a qualquer time o mesmo poder de construir interface, sem depender só do time de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Nem tudo saiu certo de primeira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Os problemas que apareceram no caminho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No começo, times criavam variações da mesma peça sem perceber que ela já existia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A velocidade de criar telas cresceu mais rápido que a clareza de quando usar cada peça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O desenho e o código viviam desalinhados sempre que um mudava sem o outro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O que construímos: um ciclo fechado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Do requisito ao código, sem perder o design pelo caminho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Um documento simples, que descreve o que a tela precisa fazer, vira o ponto de partida — não mais um desenho solto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A tela nasce já usando as peças reais do design system, nunca construída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O componente em código e sua documentação nascem juntos, a partir da mesma decisão de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62656" y="2743200"/>
            <a:ext cx="3218688" cy="0"/>
          </a:xfrm>
          <a:prstGeom prst="line">
            <a:avLst/>
          </a:prstGeom>
          <a:ln w="15875">
            <a:solidFill>
              <a:srgbClr val="0A4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gradFill rotWithShape="1">
            <a:gsLst>
              <a:gs pos="0">
                <a:srgbClr val="E64E36"/>
              </a:gs>
              <a:gs pos="100000">
                <a:srgbClr val="DF9FC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O fluxo, passo a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Simples por fora, rigoroso por dentro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1. Um time descreve o que precisa — um requisito, uma tela, uma peça 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2. Antes de qualquer código, nasce uma 'ficha de identidade' do que será criado — e o processo pausa até alguém aprovar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3. Só depois da aprovação nascem, juntos: o código, os testes e a documentação — a partir da mesma decisão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4EE4"/>
                </a:solidFill>
                <a:latin typeface="Plus Jakarta Sans"/>
              </a:rPr>
              <a:t>Números reais dos últimos 5,5 meses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1051560" cy="1051560"/>
          </a:xfrm>
          <a:prstGeom prst="ellipse">
            <a:avLst/>
          </a:prstGeom>
          <a:gradFill rotWithShape="1">
            <a:gsLst>
              <a:gs pos="0">
                <a:srgbClr val="0A4EE4"/>
              </a:gs>
              <a:gs pos="100000">
                <a:srgbClr val="8DD7D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2788920"/>
            <a:ext cx="268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E4"/>
                </a:solidFill>
                <a:latin typeface="Plus Jakarta San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3291840"/>
            <a:ext cx="268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1647"/>
                </a:solidFill>
                <a:latin typeface="Plus Jakarta Sans"/>
              </a:rPr>
              <a:t>Componentes completos já em produção</a:t>
            </a:r>
          </a:p>
        </p:txBody>
      </p:sp>
      <p:sp>
        <p:nvSpPr>
          <p:cNvPr id="8" name="Oval 7"/>
          <p:cNvSpPr/>
          <p:nvPr/>
        </p:nvSpPr>
        <p:spPr>
          <a:xfrm>
            <a:off x="3230880" y="1600200"/>
            <a:ext cx="1051560" cy="1051560"/>
          </a:xfrm>
          <a:prstGeom prst="ellipse">
            <a:avLst/>
          </a:prstGeom>
          <a:gradFill rotWithShape="1">
            <a:gsLst>
              <a:gs pos="0">
                <a:srgbClr val="779E3D"/>
              </a:gs>
              <a:gs pos="100000">
                <a:srgbClr val="8DD7D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0" y="2788920"/>
            <a:ext cx="268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E4"/>
                </a:solidFill>
                <a:latin typeface="Plus Jakarta Sans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3291840"/>
            <a:ext cx="268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1647"/>
                </a:solidFill>
                <a:latin typeface="Plus Jakarta Sans"/>
              </a:rPr>
              <a:t>Entregas revisadas e aprovadas por um colega antes de ir ao ar</a:t>
            </a:r>
          </a:p>
        </p:txBody>
      </p:sp>
      <p:sp>
        <p:nvSpPr>
          <p:cNvPr id="11" name="Oval 10"/>
          <p:cNvSpPr/>
          <p:nvPr/>
        </p:nvSpPr>
        <p:spPr>
          <a:xfrm>
            <a:off x="5913120" y="1600200"/>
            <a:ext cx="1051560" cy="1051560"/>
          </a:xfrm>
          <a:prstGeom prst="ellipse">
            <a:avLst/>
          </a:prstGeom>
          <a:gradFill rotWithShape="1">
            <a:gsLst>
              <a:gs pos="0">
                <a:srgbClr val="E64E36"/>
              </a:gs>
              <a:gs pos="100000">
                <a:srgbClr val="DF9FC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0240" y="2788920"/>
            <a:ext cx="2682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4EE4"/>
                </a:solidFill>
                <a:latin typeface="Plus Jakarta Sans"/>
              </a:rPr>
              <a:t>333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3291840"/>
            <a:ext cx="268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1647"/>
                </a:solidFill>
                <a:latin typeface="Plus Jakarta Sans"/>
              </a:rPr>
              <a:t>Alterações de código registradas — cada uma, uma decisão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4EE4"/>
                </a:solidFill>
                <a:latin typeface="Plus Jakarta Sans"/>
              </a:rPr>
              <a:t>Cadência de entrega, mês a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8686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001647"/>
                </a:solidFill>
                <a:latin typeface="Plus Jakarta Sans"/>
              </a:rPr>
              <a:t>Quanto o time entregou, mês a mês, de abril a setembro/2026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80467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4EE4"/>
                          </a:solidFill>
                          <a:latin typeface="Plus Jakarta Sans"/>
                        </a:rPr>
                        <a:t>Mês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4EE4"/>
                          </a:solidFill>
                          <a:latin typeface="Plus Jakarta Sans"/>
                        </a:rPr>
                        <a:t>Alterações de código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4EE4"/>
                          </a:solidFill>
                          <a:latin typeface="Plus Jakarta Sans"/>
                        </a:rPr>
                        <a:t>Entregas aprovadas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Abril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16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Maio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18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Junho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153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21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Julho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48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15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Agosto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68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22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Setembro (até dia 20)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30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1647"/>
                          </a:solidFill>
                          <a:latin typeface="Plus Jakarta Sans"/>
                        </a:rPr>
                        <a:t>8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4EE4"/>
                          </a:solidFill>
                          <a:latin typeface="Plus Jakarta Sans"/>
                        </a:rPr>
                        <a:t>Total no período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4EE4"/>
                          </a:solidFill>
                          <a:latin typeface="Plus Jakarta Sans"/>
                        </a:rPr>
                        <a:t>333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4EE4"/>
                          </a:solidFill>
                          <a:latin typeface="Plus Jakarta Sans"/>
                        </a:rPr>
                        <a:t>66</a:t>
                      </a:r>
                    </a:p>
                  </a:txBody>
                  <a:tcPr marT="25400" marB="25400" anchor="ctr">
                    <a:solidFill>
                      <a:srgbClr val="F2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Estudo de caso: o componente ButtonIcon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De uma 'ficha de identidade' a um componente pronto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Antes do código: um resumo define que é 'um botão de ação com apenas ícone, sem texto' — e diz quando usar e quando não usar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Depois da aprovação, nascem juntos: o componente, o estilo visual, os testes e a documentação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Nenhuma cor nova foi criada — o componente reaproveita as cores e estilos que já existiam, por decisão consciente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Ouvindo o lojista dentro do 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Uma segunda frente, que cruza pesquisa com decisões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Reúne o histórico real de entrevistas e pesquisas feitas com lojistas da Olist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Traz sentimento, dores recorrentes e feedback direto para dentro da decisão de produto 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O design system garante que as telas sejam consistentes; essa frente garante que elas resolvem o problema certo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FFFFFF"/>
                </a:solidFill>
                <a:latin typeface="Plus Jakarta Sans"/>
              </a:rPr>
              <a:t>Capítulo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Plus Jakarta Sans"/>
              </a:rPr>
              <a:t>Capítulo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62656" y="2743200"/>
            <a:ext cx="321868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gradFill rotWithShape="1">
            <a:gsLst>
              <a:gs pos="0">
                <a:srgbClr val="F0A028"/>
              </a:gs>
              <a:gs pos="100000">
                <a:srgbClr val="DF9FC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De atalho a produto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Começou como uma forma de acelerar o trabalho do próprio time 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Hoje sustenta como times de toda a empresa constroem interface — com o mesmo padrão e sem retrabalho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Não é mais um atalho isolado. É parte de como a empresa constrói produto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A4EE4"/>
                </a:solidFill>
                <a:latin typeface="Plus Jakarta Sans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Para onde vamos a partir daqui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Ampliar a cobertura de peças e padrões de tela do 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Aprofundar o cruzamento entre a pesquisa com lojistas e as decisões de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1647"/>
                </a:solidFill>
                <a:latin typeface="Plus Jakarta Sans"/>
              </a:rPr>
              <a:t>•  Convidar mais times a experimentar o processo nos seus próprios projetos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822960"/>
            <a:ext cx="3840480" cy="33832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8DD7D7"/>
              </a:gs>
              <a:gs pos="100000">
                <a:srgbClr val="0A4E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840480" cy="3383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92608"/>
            <a:ext cx="1275588" cy="29260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4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0">
                <a:solidFill>
                  <a:srgbClr val="0A4EE4"/>
                </a:solidFill>
                <a:latin typeface="Plus Jakarta Sans"/>
              </a:rPr>
              <a:t>Capítulo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4EE4"/>
                </a:solidFill>
                <a:latin typeface="Plus Jakarta Sans"/>
              </a:rPr>
              <a:t>Design |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2468880" cy="23774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4EE4"/>
              </a:gs>
              <a:gs pos="100000">
                <a:srgbClr val="8DD7D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246888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46888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4EE4"/>
              </a:gs>
              <a:gs pos="100000">
                <a:srgbClr val="8DD7D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lus Jakarta Sans"/>
              </a:rPr>
              <a:t>Valentim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Plus Jakarta Sans"/>
              </a:rPr>
              <a:t>Design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14400"/>
            <a:ext cx="2468880" cy="23774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9E3D"/>
              </a:gs>
              <a:gs pos="100000">
                <a:srgbClr val="8DD7D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914400"/>
            <a:ext cx="246888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46888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9E3D"/>
              </a:gs>
              <a:gs pos="100000">
                <a:srgbClr val="8DD7D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3246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lus Jakarta Sans"/>
              </a:rPr>
              <a:t>Thamires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6118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Plus Jakarta Sans"/>
              </a:rPr>
              <a:t>Design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14400"/>
            <a:ext cx="2468880" cy="23774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4E36"/>
              </a:gs>
              <a:gs pos="100000">
                <a:srgbClr val="DF9FC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914400"/>
            <a:ext cx="246888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lus Jakarta Sans"/>
              </a:rPr>
              <a:t>[substituir imagem]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200400"/>
            <a:ext cx="246888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4E36"/>
              </a:gs>
              <a:gs pos="100000">
                <a:srgbClr val="DF9FC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246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lus Jakarta Sans"/>
              </a:rPr>
              <a:t>Raphael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Plus Jakarta Sans"/>
              </a:rPr>
              <a:t>Design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0312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lus Jakarta Sans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Plus Jakarta Sans"/>
              </a:rPr>
              <a:t>Quer testar esse processo no seu time? Fala com a gente.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lus Jakarta Sans"/>
              </a:rPr>
              <a:t>olist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